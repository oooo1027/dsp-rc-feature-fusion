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3ebea3b6b410a" /><Relationship Type="http://schemas.openxmlformats.org/officeDocument/2006/relationships/extended-properties" Target="/docProps/app.xml" Id="R056abb439afb4f3b" /><Relationship Type="http://schemas.openxmlformats.org/officeDocument/2006/relationships/officeDocument" Target="/ppt/presentation.xml" Id="R68ffedcce60c4f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29560448f9468b"/>
  </p:sldMasterIdLst>
  <p:notesMasterIdLst>
    <p:notesMasterId xmlns:r="http://schemas.openxmlformats.org/officeDocument/2006/relationships" r:id="R0db7eaee66a342dd"/>
  </p:notesMasterIdLst>
  <p:sldIdLst>
    <p:sldId xmlns:r="http://schemas.openxmlformats.org/officeDocument/2006/relationships" id="256" r:id="R75a4bc0c08234898"/>
    <p:sldId xmlns:r="http://schemas.openxmlformats.org/officeDocument/2006/relationships" id="257" r:id="R636199f93f3249da"/>
    <p:sldId xmlns:r="http://schemas.openxmlformats.org/officeDocument/2006/relationships" id="258" r:id="Rc186a8169cec4883"/>
    <p:sldId xmlns:r="http://schemas.openxmlformats.org/officeDocument/2006/relationships" id="259" r:id="Ree39978331b5412f"/>
    <p:sldId xmlns:r="http://schemas.openxmlformats.org/officeDocument/2006/relationships" id="260" r:id="R46175109887246f8"/>
    <p:sldId xmlns:r="http://schemas.openxmlformats.org/officeDocument/2006/relationships" id="261" r:id="Re67c71dee91548bc"/>
    <p:sldId xmlns:r="http://schemas.openxmlformats.org/officeDocument/2006/relationships" id="262" r:id="R8a7fe7b37f804797"/>
    <p:sldId xmlns:r="http://schemas.openxmlformats.org/officeDocument/2006/relationships" id="263" r:id="Rd8b6af7a57ca4bbe"/>
    <p:sldId xmlns:r="http://schemas.openxmlformats.org/officeDocument/2006/relationships" id="264" r:id="R7f7bb6a404b84818"/>
    <p:sldId xmlns:r="http://schemas.openxmlformats.org/officeDocument/2006/relationships" id="265" r:id="R91c258c801834f46"/>
    <p:sldId xmlns:r="http://schemas.openxmlformats.org/officeDocument/2006/relationships" id="266" r:id="Rab15ca82e52d4d28"/>
    <p:sldId xmlns:r="http://schemas.openxmlformats.org/officeDocument/2006/relationships" id="267" r:id="R99e4a1ea017c4f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158f9daa5482b" /><Relationship Type="http://schemas.openxmlformats.org/officeDocument/2006/relationships/slideMaster" Target="/ppt/slideMasters/slideMaster1.xml" Id="R4829560448f9468b" /><Relationship Type="http://schemas.openxmlformats.org/officeDocument/2006/relationships/notesMaster" Target="/ppt/notesMasters/notesMaster1.xml" Id="R0db7eaee66a342dd" /><Relationship Type="http://schemas.openxmlformats.org/officeDocument/2006/relationships/presProps" Target="/ppt/presProps.xml" Id="R610c9745bbd44751" /><Relationship Type="http://schemas.openxmlformats.org/officeDocument/2006/relationships/tableStyles" Target="/ppt/tableStyles.xml" Id="Racd0ac9b7ba24d84" /><Relationship Type="http://schemas.openxmlformats.org/officeDocument/2006/relationships/slide" Target="/ppt/slides/slide1.xml" Id="R75a4bc0c08234898" /><Relationship Type="http://schemas.openxmlformats.org/officeDocument/2006/relationships/slide" Target="/ppt/slides/slide2.xml" Id="R636199f93f3249da" /><Relationship Type="http://schemas.openxmlformats.org/officeDocument/2006/relationships/slide" Target="/ppt/slides/slide3.xml" Id="Rc186a8169cec4883" /><Relationship Type="http://schemas.openxmlformats.org/officeDocument/2006/relationships/slide" Target="/ppt/slides/slide4.xml" Id="Ree39978331b5412f" /><Relationship Type="http://schemas.openxmlformats.org/officeDocument/2006/relationships/slide" Target="/ppt/slides/slide5.xml" Id="R46175109887246f8" /><Relationship Type="http://schemas.openxmlformats.org/officeDocument/2006/relationships/slide" Target="/ppt/slides/slide6.xml" Id="Re67c71dee91548bc" /><Relationship Type="http://schemas.openxmlformats.org/officeDocument/2006/relationships/slide" Target="/ppt/slides/slide7.xml" Id="R8a7fe7b37f804797" /><Relationship Type="http://schemas.openxmlformats.org/officeDocument/2006/relationships/slide" Target="/ppt/slides/slide8.xml" Id="Rd8b6af7a57ca4bbe" /><Relationship Type="http://schemas.openxmlformats.org/officeDocument/2006/relationships/slide" Target="/ppt/slides/slide9.xml" Id="R7f7bb6a404b84818" /><Relationship Type="http://schemas.openxmlformats.org/officeDocument/2006/relationships/slide" Target="/ppt/slides/slide10.xml" Id="R91c258c801834f46" /><Relationship Type="http://schemas.openxmlformats.org/officeDocument/2006/relationships/slide" Target="/ppt/slides/slide11.xml" Id="Rab15ca82e52d4d28" /><Relationship Type="http://schemas.openxmlformats.org/officeDocument/2006/relationships/slide" Target="/ppt/slides/slide12.xml" Id="R99e4a1ea017c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015fdb44d341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c3961b4dd475b" /><Relationship Type="http://schemas.openxmlformats.org/officeDocument/2006/relationships/notesMaster" Target="/ppt/notesMasters/notesMaster1.xml" Id="R26b9e93156984a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886dd2fafb4900" /><Relationship Type="http://schemas.openxmlformats.org/officeDocument/2006/relationships/notesMaster" Target="/ppt/notesMasters/notesMaster1.xml" Id="R6ce5228e011448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cd406c229439b" /><Relationship Type="http://schemas.openxmlformats.org/officeDocument/2006/relationships/notesMaster" Target="/ppt/notesMasters/notesMaster1.xml" Id="R39b719ae7fc3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041ac004724aec" /><Relationship Type="http://schemas.openxmlformats.org/officeDocument/2006/relationships/notesMaster" Target="/ppt/notesMasters/notesMaster1.xml" Id="R70817553b7c749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bf331e80f40e4" /><Relationship Type="http://schemas.openxmlformats.org/officeDocument/2006/relationships/notesMaster" Target="/ppt/notesMasters/notesMaster1.xml" Id="R9765f2d84d9641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d22175d7a04236" /><Relationship Type="http://schemas.openxmlformats.org/officeDocument/2006/relationships/notesMaster" Target="/ppt/notesMasters/notesMaster1.xml" Id="R823540e985e0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015d1a8df34c67" /><Relationship Type="http://schemas.openxmlformats.org/officeDocument/2006/relationships/notesMaster" Target="/ppt/notesMasters/notesMaster1.xml" Id="R79036f6b8fb34b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b8c5fc865b42eb" /><Relationship Type="http://schemas.openxmlformats.org/officeDocument/2006/relationships/notesMaster" Target="/ppt/notesMasters/notesMaster1.xml" Id="R099ddce0ae6447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bba9a21dfa4895" /><Relationship Type="http://schemas.openxmlformats.org/officeDocument/2006/relationships/notesMaster" Target="/ppt/notesMasters/notesMaster1.xml" Id="R9e9caec08f7d40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b2b258058a4fbe" /><Relationship Type="http://schemas.openxmlformats.org/officeDocument/2006/relationships/notesMaster" Target="/ppt/notesMasters/notesMaster1.xml" Id="R9ea43210927d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60cdb01cd9483c" /><Relationship Type="http://schemas.openxmlformats.org/officeDocument/2006/relationships/notesMaster" Target="/ppt/notesMasters/notesMaster1.xml" Id="R2701053c289b4f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3e586b4c0f491d" /><Relationship Type="http://schemas.openxmlformats.org/officeDocument/2006/relationships/notesMaster" Target="/ppt/notesMasters/notesMaster1.xml" Id="R4e323ebcb553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总结已完成研究，不报告新训练结果。核心结论是双分支实现与消融完整，但当前没有稳定超越强线性基线。删除Volterra二次项没有释放双分支增量收益。资料来源：/Users/oliver/Desktop/DSP/PROJECT_RESEARCH_SUMMARY.md；/Users/oliver/Desktop/DSP/GROUP2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是CAP解调后的复符号，输出理想I/Q，随后NLTCP恢复PAM4。RX1/RX2物理通道各自建模再等权合并；这不是Identity/tanh双分支。每路204800实采样对应51200理想复符号，sps=4。原始示波器导出链未完全确认，不把已交付TXT称为未处理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/Users/oliver/Desktop/DSP/PROJECT_RESEARCH_SUMMARY.md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间1-based。Phase4/5仅509训练/验证，后者只数值解析前20000符号。全部缩放/投影/输出权重来自训练，验证选设计，测试不再用于选择。NLTCP前后q为(0,4)(0,5)(1,4)(1,5)(2,5)(3,5)会输出4/5，不截断。E为合法判决错误bit，U为非法I/Q分量，N为复符号数。界限不是统计置信区间；auto按I/Q各自最大整数确定宽度再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/Users/oliver/Desktop/DSP/PROJECT_RESEARCH_SUMMARY.md</a:t>
            </a:r>
          </a:p>
          <a:p xmlns:a="http://schemas.openxmlformats.org/drawingml/2006/main">
            <a:r>
              <a:t>/Users/oliver/Desktop/DSP/rc_baseline/runs/phase2_509/decoder_audit.json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线性状态hL=(1−γ)hLprev+γ(AL hLprev+WinL[u;1])；非线性状态hN=(1−γ)hNprev+γ tanh(AN hNprev+WinN[u;1])。输入直通只保留一份。共同读出使两组特征在同一监督目标下分配系数，不保证一定提高性能。Identity A以算子2范数.6缩放，γ=.7，所以有效递归范数上界.72&lt;1；tanh谱半径.9。主双分支40+40、seed200/100、λ=.01。隐藏层固定不训练，偏置也正则化。图为Phase3原结构图。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/Users/oliver/Desktop/DSP/rc_baseline/src/dsp_rc/fusion.py</a:t>
            </a:r>
          </a:p>
          <a:p xmlns:a="http://schemas.openxmlformats.org/drawingml/2006/main">
            <a:r>
              <a:t>/Users/oliver/Desktop/DSP/rc_baseline/runs/phase3_feature_fusion/REPORT.md</a:t>
            </a:r>
          </a:p>
          <a:p xmlns:a="http://schemas.openxmlformats.org/drawingml/2006/main">
            <a:r>
              <a:t>/Users/oliver/Desktop/DSP/rc_baseline/runs/phase3_feature_fusion/architecture.png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图中比较同窗口线性Ridge与非线性RC的固定2-bit BER上界。RX2 RC25上界.130696，115为.032456。反相控制重新拟合前端后的预测差0，整体幅相修正无实质效果。80→160节点、泄漏/谱半径/正则/输入尺度改动远不如扩窗。窗口同时增加特征数，不能断言物理记忆精确等于115符号。共享矩阵MATLAB状态/读出/预测通过数值核对；CAP工具箱完整对照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/Users/oliver/Desktop/DSP/rc_baseline/runs/phase2_509/REPORT.md</a:t>
            </a:r>
          </a:p>
          <a:p xmlns:a="http://schemas.openxmlformats.org/drawingml/2006/main">
            <a:r>
              <a:t>/Users/oliver/Desktop/DSP/rc_baseline/runs/phase2_509/window_diagnosis.png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均为主seed100验证结果，不是历史测试。Phase4六个参考预测逐元素复现Phase3。主家族赢家λ不同，故此表不是纯结构单因素；Phase3另外保留同λ、同总节点预算控制，双分支仍未胜线性RC。线性状态约99.9%方差可由当前窗口解释；非线性虽有约18–19%不同变化，也未证明它预测目标所需。只有状态、去掉输入直通的80+80模型上界约.380414，明确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/Users/oliver/Desktop/DSP/rc_baseline/runs/phase3_feature_fusion/REPORT.md</a:t>
            </a:r>
          </a:p>
          <a:p xmlns:a="http://schemas.openxmlformats.org/drawingml/2006/main">
            <a:r>
              <a:t>/Users/oliver/Desktop/DSP/rc_baseline/runs/phase4_residual_fusion/candidate_results.json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结果来自Phase3保存的测试统计，不重新评价。509已多次观察，513/382按元数据预选后冻结评价，但现在亦为历史测试、共用Tx，每条件各自训练前端与读出，不是零样本迁移。509本表位宽均3/3，全部模型同mask。固定bit界限支持主方法相对本次来源参数LMS改善，但不证明超过充分调优LMS。382XY反例：dual auto .0002908（3/3），tanh .0003393（3/2）；固定上界dual .0004201、tanh .0004040排序相反。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/Users/oliver/Desktop/DSP/rc_baseline/runs/phase3_feature_fusion/REPORT.md</a:t>
            </a:r>
          </a:p>
          <a:p xmlns:a="http://schemas.openxmlformats.org/drawingml/2006/main">
            <a:r>
              <a:t>/Users/oliver/Desktop/DSP/rc_baseline/runs/phase3_feature_fusion/index509/test_results.json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拟合并冻结窗口Ridge或线性RC，再由tanh状态预测训练残差。原状态/近似正交状态各一组，η∈{0,.25,.5,1}。原图横轴η，纵轴对自身线性基础的差值，越低越好。最优非零设计多种子平均MSE相对收益为−.008%（恶化），分组联合为−.689276%。投影/标准化训练限定，分组惩罚输入.01/L1/H10，条件数改善但没改善预测。同步变换惩罚的纯坐标控制预测差约1.18e−11，不能包装成新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/Users/oliver/Desktop/DSP/rc_baseline/runs/phase4_residual_fusion/REPORT.md</a:t>
            </a:r>
          </a:p>
          <a:p xmlns:a="http://schemas.openxmlformats.org/drawingml/2006/main">
            <a:r>
              <a:t>/Users/oliver/Desktop/DSP/rc_baseline/runs/phase4_residual_fusion/eta_ablation.png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假设：波形级二次前端可能减少符号级非线性可利用信息。off严格删除二次基函数，从W=0重新训练波形线性LMS，而不是整个绕过前端、将学习率置零或对原W做推理损伤。RX1线性33/.022、RX2 43/.013，前10000采样单遍。on/off各自训练wave/CAP/输入尺度，原始lag/极性共享、CAP phase0固定，各后端重新拟合。四路训练相关峰均0，on训练前端与历史模型完全一致。共12组合24通道后端4前端，无测试模式。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/Users/oliver/Desktop/DSP/rc_baseline/runs/phase5_volterra_ablation/protocol.json</a:t>
            </a:r>
          </a:p>
          <a:p xmlns:a="http://schemas.openxmlformats.org/drawingml/2006/main">
            <a:r>
              <a:t>/Users/oliver/Desktop/DSP/rc_baseline/runs/phase5_volterra_ablation/REPORT.md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既有图保留每个seed。MSE和BER上界为RX1/RX2/XY均值。主线性on MSE .393639194 upper .023202313；off .543098019 upper .046515805。双分支三seed指标平均on .395329417 upper .023410418；off .545271134 upper .047205688。三seed平均指标不是集成预测。off双分支没有胜过两个off强线性参照。图为原输出，未重新计算模型。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/Users/oliver/Desktop/DSP/rc_baseline/runs/phase5_volterra_ablation/results.json</a:t>
            </a:r>
          </a:p>
          <a:p xmlns:a="http://schemas.openxmlformats.org/drawingml/2006/main">
            <a:r>
              <a:t>/Users/oliver/Desktop/DSP/rc_baseline/runs/phase5_volterra_ablation/factorial_validation.png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I=(dual_off−linear_off)−(dual_on−linear_on)；平均MSE交互+.000482891，三seed点估计均正。两种块长95%探索性MSE区间分别[.000214275,.000727679]、[.000220560,.000731419]；BER上界交互块256跨0、512偏正，证据更弱。先解码再连续块配对，block256/512 each2000 seed404，所有条件/seed/输出同位置。验证反复使用，区间不能当总体确认性证据。前端off步长/遍数未优化，比较的是两个训练管线，不是纯二次项独立因果分解。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/Users/oliver/Desktop/DSP/rc_baseline/runs/phase5_volterra_ablation/paired_block_results.json</a:t>
            </a:r>
          </a:p>
          <a:p xmlns:a="http://schemas.openxmlformats.org/drawingml/2006/main">
            <a:r>
              <a:t>/Users/oliver/Desktop/DSP/rc_baseline/runs/phase5_volterra_ablation/paired_interaction.png</a:t>
            </a:r>
          </a:p>
          <a:p xmlns:a="http://schemas.openxmlformats.org/drawingml/2006/main">
            <a:r>
              <a:t>/Users/oliver/Desktop/DSP/rc_baseline/runs/phase5_volterra_ablation/decision.json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实现了方法，也保留了所有失败案例。理由：长窗口强线性足够强；残差四家族η0；前端消融未过事前门槛且绝对性能退化。停止不等于证明所有非线性无效，未有独立新载荷，也未解决4/5映射。下一步助教确认解码分母、自然/Gray、首尾、课程基线要求；核实旧data36QAM是否不同消息并有完整RX/标签/符号，或新数据。没有授权不重新训练。交付入口PROJECT_RESEARCH_SUMMARY/GROUP2_HANDOFF/Phase5 REPORT及volterra_ablation README。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资料来源（本地项目，复核日期2026-10-17）：</a:t>
            </a:r>
          </a:p>
          <a:p xmlns:a="http://schemas.openxmlformats.org/drawingml/2006/main">
            <a:r>
              <a:t>/Users/oliver/Desktop/DSP/PROJECT_RESEARCH_SUMMARY.md</a:t>
            </a:r>
          </a:p>
          <a:p xmlns:a="http://schemas.openxmlformats.org/drawingml/2006/main">
            <a:r>
              <a:t>/Users/oliver/Desktop/DSP/GROUP2_HANDOFF.md</a:t>
            </a:r>
          </a:p>
          <a:p xmlns:a="http://schemas.openxmlformats.org/drawingml/2006/main">
            <a:r>
              <a:t>/Users/oliver/Desktop/DSP/NEXT_EXPERIMENT_FEASIBILITY.md</a:t>
            </a:r>
          </a:p>
          <a:p xmlns:a="http://schemas.openxmlformats.org/drawingml/2006/main">
            <a:r>
              <a:t>/Users/oliver/Desktop/DSP/TA_QUESTIONS.md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188c7b81f49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f67d618a84e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fbac439e54e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e7b82693e4a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c7af45d004f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fd55cf31543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528B1-50B5-4555-BC56-B6E7BAFA3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E5B98B-4FE6-43A7-A792-1F7857E64C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9612A3-DD9D-4670-ADBB-FEAC0B704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CE3C44-2792-40E8-A58C-131139448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CD9288-BF83-4627-839F-BFA6320FE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DD551C-3733-4E8E-B2BF-C794125D9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2066B-7C01-4C46-A9C5-1BDB6A3BD3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7EDF78-DF3E-4202-BA7F-B162DC175C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F3474-1CBD-4E3F-BEF9-E7F62765E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EDF443-6F21-4430-B1F9-8624BB362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5ec416fc440c8" /><Relationship Type="http://schemas.openxmlformats.org/officeDocument/2006/relationships/slideLayout" Target="/ppt/slideLayouts/slideLayout1.xml" Id="R045bdb981eac4ee2" /><Relationship Type="http://schemas.openxmlformats.org/officeDocument/2006/relationships/slideLayout" Target="/ppt/slideLayouts/slideLayout2.xml" Id="R784728bbd43742f5" /><Relationship Type="http://schemas.openxmlformats.org/officeDocument/2006/relationships/slideLayout" Target="/ppt/slideLayouts/slideLayout3.xml" Id="R8253daeb93ec4b3f" /><Relationship Type="http://schemas.openxmlformats.org/officeDocument/2006/relationships/slideLayout" Target="/ppt/slideLayouts/slideLayout4.xml" Id="R5023185c447a4ebd" /><Relationship Type="http://schemas.openxmlformats.org/officeDocument/2006/relationships/slideLayout" Target="/ppt/slideLayouts/slideLayout5.xml" Id="R3d9538cc5b544b1b" /><Relationship Type="http://schemas.openxmlformats.org/officeDocument/2006/relationships/slideLayout" Target="/ppt/slideLayouts/slideLayout6.xml" Id="R13140be09b294e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bdb981eac4ee2"/>
    <p:sldLayoutId xmlns:r="http://schemas.openxmlformats.org/officeDocument/2006/relationships" id="2147483650" r:id="R784728bbd43742f5"/>
    <p:sldLayoutId xmlns:r="http://schemas.openxmlformats.org/officeDocument/2006/relationships" id="2147483651" r:id="R8253daeb93ec4b3f"/>
    <p:sldLayoutId xmlns:r="http://schemas.openxmlformats.org/officeDocument/2006/relationships" id="2147483652" r:id="R5023185c447a4ebd"/>
    <p:sldLayoutId xmlns:r="http://schemas.openxmlformats.org/officeDocument/2006/relationships" id="2147483653" r:id="R3d9538cc5b544b1b"/>
    <p:sldLayoutId xmlns:r="http://schemas.openxmlformats.org/officeDocument/2006/relationships" id="2147483654" r:id="R13140be09b294e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3c34eb1494e1d" /><Relationship Type="http://schemas.openxmlformats.org/officeDocument/2006/relationships/notesSlide" Target="/ppt/notesSlides/notesSlide1.xml" Id="R341400c72b2143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c28b150c5d488f" /><Relationship Type="http://schemas.openxmlformats.org/officeDocument/2006/relationships/notesSlide" Target="/ppt/notesSlides/notesSlide2.xml" Id="Rd0c42254b6d844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e4e81c4fe4bd5" /><Relationship Type="http://schemas.openxmlformats.org/officeDocument/2006/relationships/notesSlide" Target="/ppt/notesSlides/notesSlide3.xml" Id="R2d253a2b407e43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826daa68e4420" /><Relationship Type="http://schemas.openxmlformats.org/officeDocument/2006/relationships/image" Target="/ppt/media/image.png" Id="R3f1a441f95de4473" /><Relationship Type="http://schemas.openxmlformats.org/officeDocument/2006/relationships/notesSlide" Target="/ppt/notesSlides/notesSlide4.xml" Id="R4f1bb842dd9c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b8ceb38d94a40" /><Relationship Type="http://schemas.openxmlformats.org/officeDocument/2006/relationships/image" Target="/ppt/media/image2.png" Id="R7918524060d54d7e" /><Relationship Type="http://schemas.openxmlformats.org/officeDocument/2006/relationships/notesSlide" Target="/ppt/notesSlides/notesSlide5.xml" Id="R97ec67ca43de46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9fd41d906149a3" /><Relationship Type="http://schemas.openxmlformats.org/officeDocument/2006/relationships/notesSlide" Target="/ppt/notesSlides/notesSlide6.xml" Id="R8f9d1f3ac1b6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7d1675f1f41f8" /><Relationship Type="http://schemas.openxmlformats.org/officeDocument/2006/relationships/notesSlide" Target="/ppt/notesSlides/notesSlide7.xml" Id="Re75a3173a3db4f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c425e0933486c" /><Relationship Type="http://schemas.openxmlformats.org/officeDocument/2006/relationships/image" Target="/ppt/media/image3.png" Id="R6503403e1f504f57" /><Relationship Type="http://schemas.openxmlformats.org/officeDocument/2006/relationships/notesSlide" Target="/ppt/notesSlides/notesSlide8.xml" Id="Rab1153cc20f6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275b1c5b04ffb" /><Relationship Type="http://schemas.openxmlformats.org/officeDocument/2006/relationships/notesSlide" Target="/ppt/notesSlides/notesSlide9.xml" Id="Rb7f0cb0f439b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6d488a84a4a83" /><Relationship Type="http://schemas.openxmlformats.org/officeDocument/2006/relationships/image" Target="/ppt/media/image4.png" Id="Rd8bd98af27ea40f1" /><Relationship Type="http://schemas.openxmlformats.org/officeDocument/2006/relationships/notesSlide" Target="/ppt/notesSlides/notesSlide10.xml" Id="R1fcd091e835946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11feaba8f4f92" /><Relationship Type="http://schemas.openxmlformats.org/officeDocument/2006/relationships/image" Target="/ppt/media/image5.png" Id="Re6dc4aae2ec543d5" /><Relationship Type="http://schemas.openxmlformats.org/officeDocument/2006/relationships/notesSlide" Target="/ppt/notesSlides/notesSlide11.xml" Id="Raf1af8178c7449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bb260b57541d1" /><Relationship Type="http://schemas.openxmlformats.org/officeDocument/2006/relationships/notesSlide" Target="/ppt/notesSlides/notesSlide12.xml" Id="Rd0d8015614b243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7C061-C313-404F-BDD8-6CB3554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双分支 RC 特征融合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AECC7-9D7D-4631-BD17-2DF167B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A9CFD1"/>
                </a:solidFill>
                <a:latin typeface="Hiragino Sans GB"/>
                <a:ea typeface="Hiragino Sans GB"/>
                <a:cs typeface="Hiragino Sans GB"/>
              </a:rPr>
              <a:t>第二组 · 五阶段研究汇报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403B8-2C63-4313-A473-39A3DD12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保留 Volterra 与强线性基线</a:t>
            </a:r>
          </a:p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停止扩大当前参数搜索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789E8-A777-489A-8ACD-4AE221D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BDCDD5"/>
                </a:solidFill>
                <a:latin typeface="Hiragino Sans GB"/>
                <a:ea typeface="Hiragino Sans GB"/>
                <a:cs typeface="Hiragino Sans GB"/>
              </a:rPr>
              <a:t>NLTCP / index 509、513、382    ·    2026.10.17</a:t>
            </a:r>
          </a:p>
        </p:txBody>
      </p:sp>
    </p:spTree>
    <p:extLst>
      <p:ext uri="{BB962C8B-B14F-4D97-AF65-F5344CB8AC3E}">
        <p14:creationId xmlns:p14="http://schemas.microsoft.com/office/powerpoint/2010/main" val="952619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B57E8-4C6D-4965-AA28-C334DFF7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任务与五阶段研究主线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9C6E-5892-436B-90B5-A75DD7A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第二组研究的是符号级特征融合（S2S）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1DB7E-F652-4D99-B064-5116A509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6401-0EAB-4F3D-96F5-F1E2464C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接收波形 → 线性 LMS＋Volterra → CAP → 符号均衡 → NLTCP 解码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1B5F5-3D82-479D-AA65-7CBD943A11CE}"/>
              </a:ext>
            </a:extLst>
          </p:cNvPr>
          <p:cNvGraphicFramePr/>
          <p:nvPr/>
        </p:nvGraphicFramePr>
        <p:xfrm>
          <a:off xmlns:a="http://schemas.openxmlformats.org/drawingml/2006/main" x="609600" y="2457450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95750"/>
                <a:gridCol w="4876800"/>
              </a:tblGrid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解决的问题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得到的结论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审计与基线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配对、对齐、独立分段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流程跑通；25窗口 RX2 失效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单分支诊断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窗口、反相与数值一致性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115窗口改善；强线性已接近 RC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特征拼接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共同读出与预算对照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未稳定超越强线性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残差融合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非线性是否补充线性残差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四组均选择 η=0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175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  前端消融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Volterra 是否遮蔽增量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删除二次项更差，继续止损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1001E-0E65-43DC-BEAB-5E6A68B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每个物理通道内：Identity / tanh 两分支；RX1 / RX2 最后固定等权合并</a:t>
            </a:r>
          </a:p>
        </p:txBody>
      </p:sp>
    </p:spTree>
    <p:extLst>
      <p:ext uri="{BB962C8B-B14F-4D97-AF65-F5344CB8AC3E}">
        <p14:creationId xmlns:p14="http://schemas.microsoft.com/office/powerpoint/2010/main" val="948747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BD0F-D409-40BC-9B30-01AD9F3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先区分评价区间与 BER 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5450E-88FB-4041-B01C-962C9732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所有模型共享分段、128符号双端保护和原解码规则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44CA1-1E05-44DA-8114-E15DC65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03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D0AF3-82F7-4731-88B1-0EB020A79A7C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1714500"/>
                <a:gridCol w="45910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区间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符号范围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有效符号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当前用途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1–10000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9744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仅此处拟合参数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10001–20000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9744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开发 / Phase4、5证据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历史测试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20001–51200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30944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旧结果回归，非新盲测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E8F35-AEA2-4283-8B6A-DC37FCB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固定 2-bit BER： [ E / (4N), (E + 2U) / (4N)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59A22-3E4B-45EF-A075-4924468B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E：合法判决错误bit数    U：非法I/Q分量数    N：有效复符号数；界限不是置信区间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368B0-1733-4DA3-993F-13B61D8A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非法率 = U / (2N)；有非法 4/5 时，不伪造唯一物理 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3D01D-6C8E-471F-A0FF-6459F0F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历史 auto BER 可能按 3 位计数；不能与固定 2-bit 界限混用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181AA-32D3-47BB-81D4-7C32251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509 / 513 / 382 共用 Tx 消息；目前没有独立新载荷测试</a:t>
            </a:r>
          </a:p>
        </p:txBody>
      </p:sp>
    </p:spTree>
    <p:extLst>
      <p:ext uri="{BB962C8B-B14F-4D97-AF65-F5344CB8AC3E}">
        <p14:creationId xmlns:p14="http://schemas.microsoft.com/office/powerpoint/2010/main" val="1719368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FD297-5054-4954-B794-8FFAD19F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双分支：两种状态，共同 Ridge 读出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52F51-B04F-407A-8487-D8560007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同一115复符号窗口 → 230实维输入；每通道独立拟合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FE28E-DE2A-488B-A6A5-FFC0F6A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04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CC822-9930-4E3D-9388-3A2653AFB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a441f95de4473"/>
          <a:stretch xmlns:a="http://schemas.openxmlformats.org/drawingml/2006/main"/>
        </p:blipFill>
        <p:spPr>
          <a:xfrm xmlns:a="http://schemas.openxmlformats.org/drawingml/2006/main">
            <a:off x="1383771" y="1695450"/>
            <a:ext cx="9424458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EB8B4-07CA-4D39-8708-1FFAAFD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F = [ h_linear, h_tanh, u, 1 ]     W = argmin ||F_train W − Y_train||² + λ||W||²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730EF-9EB8-48E2-9AFE-3C0DD78F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40＋40节点 · 311×2读出 · λ=.01；线性递归收缩界 .72，确保 Identity 分支稳定</a:t>
            </a:r>
          </a:p>
        </p:txBody>
      </p:sp>
    </p:spTree>
    <p:extLst>
      <p:ext uri="{BB962C8B-B14F-4D97-AF65-F5344CB8AC3E}">
        <p14:creationId xmlns:p14="http://schemas.microsoft.com/office/powerpoint/2010/main" val="413545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4DCD9-8463-4313-AF7F-E078F60F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RX2 的主要可验证问题是窗口过短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3F6CD-A572-4F29-916B-C79A11C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Phase2 · 仅验证区诊断；前端与标签保持一致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F3FE-7EAF-4C65-9E93-481C2014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05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D8C60-B2E1-4A84-80E4-D073C3F45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8524060d54d7e"/>
          <a:stretch xmlns:a="http://schemas.openxmlformats.org/drawingml/2006/main"/>
        </p:blipFill>
        <p:spPr>
          <a:xfrm xmlns:a="http://schemas.openxmlformats.org/drawingml/2006/main">
            <a:off x="609600" y="1657783"/>
            <a:ext cx="10972800" cy="399010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C9BAF-05D8-43C0-9FEC-5A25D5C3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25 → 115窗口：RX2上界 0.13070 → 0.03246；Ridge 也随窗口扩大明显改善</a:t>
            </a:r>
          </a:p>
        </p:txBody>
      </p:sp>
    </p:spTree>
    <p:extLst>
      <p:ext uri="{BB962C8B-B14F-4D97-AF65-F5344CB8AC3E}">
        <p14:creationId xmlns:p14="http://schemas.microsoft.com/office/powerpoint/2010/main" val="515592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628E3-1BAE-4DDA-B97A-9B00636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直接拼接未稳定超过强线性基线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DA1E1-74A0-4078-A1EB-823BB2C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Phase3 / 4 · index509验证 · RX1、RX2、XY指标等权平均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E7394-E1B4-4433-91D2-72DE7A4B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06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D1B0E-3FC7-4D64-A7E9-1C6BC00CEF12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1219200"/>
                <a:gridCol w="1219200"/>
                <a:gridCol w="1952625"/>
                <a:gridCol w="421957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读出维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λ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复数 MSE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固定2-bit界限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窗口 Ridge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1e−5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0.393878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0.020696–0.023160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 RC80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311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1e−5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0.393681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0.020705–0.023151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非线性 RC80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311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1e−5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0.396468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0.020979–0.023356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双分支40+40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311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.01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0.395262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0.021287–0.023630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B4F0-85FB-43DC-8F6F-7F635797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预算控制：40＋40 与单分支80同为622个读出系数；并非严格等计算量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32782-71A1-44FE-B5BF-508DE84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删除输入直通：纯状态80＋80验证上界约 0.3804，明显失败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62AFC-961A-42B5-8693-19F58E7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强线性已解释大部分收益；“状态不同”不能作为“有效增量”的证据</a:t>
            </a:r>
          </a:p>
        </p:txBody>
      </p:sp>
    </p:spTree>
    <p:extLst>
      <p:ext uri="{BB962C8B-B14F-4D97-AF65-F5344CB8AC3E}">
        <p14:creationId xmlns:p14="http://schemas.microsoft.com/office/powerpoint/2010/main" val="1057056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342E9-45DB-48FE-BA8E-1B2A3DD7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历史测试：胜过来源 LMS 不等于结构优势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ECC08-C639-4E36-8C79-223484AE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以下为 index509 历史测试 auto BER；不是固定2-bit物理BER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6A1A8-4B1D-4CD3-8028-DDEE1B26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07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85306-0705-4FAD-937D-6C1BFA32B30D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8105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24100"/>
                <a:gridCol w="1828800"/>
                <a:gridCol w="1828800"/>
                <a:gridCol w="1828800"/>
              </a:tblGrid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RX1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RX2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XY等权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LMS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0.043789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0.027561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0.013605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窗口 Ridge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0.018404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0.022153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0.006156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 RC80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0.018410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0.022078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0.006097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非线性 RC80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0.018550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0.022525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0.006366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549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双分支40+40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0.018523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0.022595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0.006194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E0772-3186-405A-AA44-D819B58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145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513 / 382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B0CA5-B1C3-4819-BC99-A1AF50CD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76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提供工况验证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共用同一 Tx 载荷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不构成新消息盲测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2689-5C56-4844-AD9F-A00729D5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382 XY 的反例：双分支 auto 更低，但固定 BER 上界比非线性单RC更高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07316-37B8-41F0-8C8F-83DD2955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I/Q 位宽分别为 3/3 与 3/2；不能只按 auto BER 排名</a:t>
            </a:r>
          </a:p>
        </p:txBody>
      </p:sp>
    </p:spTree>
    <p:extLst>
      <p:ext uri="{BB962C8B-B14F-4D97-AF65-F5344CB8AC3E}">
        <p14:creationId xmlns:p14="http://schemas.microsoft.com/office/powerpoint/2010/main" val="229971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DDF9E-2351-474D-A728-00350B27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残差修正：四组验证选择全部回到 η=0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E060C-4826-4DAA-89D7-75D36BB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Phase4 · 24个预定义配置；固定三种非线性种子诊断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B0670-3B3E-45CB-BF0F-8BD55FDE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F71B9-C64C-4A4C-974B-0A75035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r_train = Y_train − Y_linear      Ŷ = Y_linear + η · Ridge(H_tanh, r_train)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9C2E-51CC-4EF4-882C-853CEF58F4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3403e1f504f57"/>
          <a:stretch xmlns:a="http://schemas.openxmlformats.org/drawingml/2006/main"/>
        </p:blipFill>
        <p:spPr>
          <a:xfrm xmlns:a="http://schemas.openxmlformats.org/drawingml/2006/main">
            <a:off x="988219" y="2247900"/>
            <a:ext cx="10215563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A3978-FC3E-4540-8B1C-5BC92B8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训练残差可以拟合，验证增量 R² 却为负；正交化、分组 Ridge 也未建立稳定收益</a:t>
            </a:r>
          </a:p>
        </p:txBody>
      </p:sp>
    </p:spTree>
    <p:extLst>
      <p:ext uri="{BB962C8B-B14F-4D97-AF65-F5344CB8AC3E}">
        <p14:creationId xmlns:p14="http://schemas.microsoft.com/office/powerpoint/2010/main" val="114319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F0362-7C95-4588-B2AF-DE2FC7A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Volterra 消融：保留线性前端，只移除二次项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7C84-E831-4E33-A37F-C0467D34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Phase5 · 先冻结协议，仅训练 / 验证，不扩大搜索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B3D73-E211-4C9E-9132-570ED2D3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09 / 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C59D7-27CF-40B5-A6C1-3C4E81E1AFE6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50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波形前端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线性后端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双分支后端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有二次 Volterra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Identity80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Identity40＋tanh40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无二次项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Identity80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Identity40＋tanh40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0B411-7419-4A50-B635-F64239FE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公平控制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81388-A435-4EA4-9193-2CB57331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115窗口 · 311维读出 · λ=.01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同一分段、保护区与 CAP 相位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各侧重新拟合尺度及后端读出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15A30-D549-4A58-949F-BA39B886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强线性参照与种子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C33C1-B674-480C-B85A-D321E4D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815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另保留 Ridge / 线性RC 的 λ=1e−5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非线性种子固定 100 / 101 / 102</a:t>
            </a:r>
          </a:p>
          <a:p xmlns:a="http://schemas.openxmlformats.org/drawingml/2006/main">
            <a:pPr algn="l">
              <a:def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全报，不选择最好的一次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4495B-BECD-45B7-B23C-B90222C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off：波形线性 LMS 从零重训；二次系数与二次输出严格不存在</a:t>
            </a:r>
          </a:p>
        </p:txBody>
      </p:sp>
    </p:spTree>
    <p:extLst>
      <p:ext uri="{BB962C8B-B14F-4D97-AF65-F5344CB8AC3E}">
        <p14:creationId xmlns:p14="http://schemas.microsoft.com/office/powerpoint/2010/main" val="649471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5E62C-E89C-4C6B-A209-75B6AD86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删除二次项后，两类后端均明显退化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1366B-088C-4B62-BFAF-AB94268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Phase5 · index509验证；双分支为三个固定种子的结果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BED29-BD3A-4765-882E-70B9C72F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10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635F6-9471-47C2-AE25-E2F020848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d98af27ea40f1"/>
          <a:stretch xmlns:a="http://schemas.openxmlformats.org/drawingml/2006/main"/>
        </p:blipFill>
        <p:spPr>
          <a:xfrm xmlns:a="http://schemas.openxmlformats.org/drawingml/2006/main">
            <a:off x="1750219" y="1628775"/>
            <a:ext cx="8691563" cy="34766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E22E5-B355-41FA-85BC-E309BF4ADF73}"/>
              </a:ext>
            </a:extLst>
          </p:cNvPr>
          <p:cNvGraphicFramePr/>
          <p:nvPr/>
        </p:nvGraphicFramePr>
        <p:xfrm>
          <a:off xmlns:a="http://schemas.openxmlformats.org/drawingml/2006/main" x="609600" y="5257800"/>
          <a:ext xmlns:a="http://schemas.openxmlformats.org/drawingml/2006/main" cx="1097280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333750"/>
                <a:gridCol w="33528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 MSE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 Volterra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仅波形线性 LMS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T w="5715">
                      <a:solidFill>
                        <a:srgbClr val="DDE5E8"/>
                      </a:solidFill>
                      <a:prstDash val="solid"/>
                    </a:lnT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142D3C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线性 RC / 双分支三seed均值</a:t>
                      </a:r>
                    </a:p>
                  </a:txBody>
                  <a:tcPr marL="114300" marR="76200" marT="95250" marB="76200" anchor="ctr">
                    <a:lnL w="5715">
                      <a:solidFill>
                        <a:srgbClr val="DDE5E8"/>
                      </a:solidFill>
                      <a:prstDash val="solid"/>
                    </a:lnL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0.393639 / 0.395329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D3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0.543098 / 0.545271</a:t>
                      </a:r>
                    </a:p>
                  </a:txBody>
                  <a:tcPr marL="114300" marR="76200" marT="95250" marB="76200" anchor="ctr">
                    <a:lnR w="5715">
                      <a:solidFill>
                        <a:srgbClr val="DDE5E8"/>
                      </a:solidFill>
                      <a:prstDash val="solid"/>
                    </a:lnR>
                    <a:lnB w="5715">
                      <a:solidFill>
                        <a:srgbClr val="DDE5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8718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6D6C5-2DCA-4001-AB46-DD85751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交互效应不支持释放双分支增量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B3722-F26D-4560-930F-4EEFD2F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Phase5 · 差值为双分支 − 线性；负值才有利于双分支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7487D-12CB-467C-A772-7764C074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43DE2-E995-41F8-A69B-B875EB4D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交互 = (双分支 − 线性)_off − (双分支 − 线性)_on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467CF-5195-4A24-AFB8-BBB133755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c4aae2ec543d5"/>
          <a:stretch xmlns:a="http://schemas.openxmlformats.org/drawingml/2006/main"/>
        </p:blipFill>
        <p:spPr>
          <a:xfrm xmlns:a="http://schemas.openxmlformats.org/drawingml/2006/main">
            <a:off x="1571625" y="2114550"/>
            <a:ext cx="9048750" cy="3619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D0DAF-D826-48FD-8E75-851E8923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MSE交互 +0.000483；BER交互证据更弱：256符号块区间跨0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B3EF1-0EB8-45EB-878D-8137627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连续256 / 512符号块，配对2000次；重复使用验证区，仅属探索性证据</a:t>
            </a:r>
          </a:p>
        </p:txBody>
      </p:sp>
    </p:spTree>
    <p:extLst>
      <p:ext uri="{BB962C8B-B14F-4D97-AF65-F5344CB8AC3E}">
        <p14:creationId xmlns:p14="http://schemas.microsoft.com/office/powerpoint/2010/main" val="20395888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2627-5848-4CDE-82F2-B634F05E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最终研究结论：保留 Volterra，停止搜索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A2D4B-B62E-49DD-B7FC-5D3D750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第二组方法与验证已完成；下一步转向团队交付和评价契约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02326-3DC0-4066-A8AE-C26A8FA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第二组 · DSP / NLTCP    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30DE-EE03-4575-9972-AFE8F44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保留什么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3DE05-FF11-4211-B94D-30ED7A9E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191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现有 Volterra 波形前端</a:t>
            </a:r>
          </a:p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115窗口 Ridge / 线性 RC 强参照</a:t>
            </a:r>
          </a:p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双分支实现、完整消融与负面结果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B31BB-39B4-4FEE-9D2B-C0667DD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669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A34231"/>
                </a:solidFill>
                <a:latin typeface="Hiragino Sans GB"/>
                <a:ea typeface="Hiragino Sans GB"/>
                <a:cs typeface="Hiragino Sans GB"/>
              </a:rPr>
              <a:t>为什么停止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156CC-DC62-4CA2-AD83-CB185C80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残差四家族均选择 η=0</a:t>
            </a:r>
          </a:p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前端消融未通过预声明门槛</a:t>
            </a:r>
          </a:p>
          <a:p xmlns:a="http://schemas.openxmlformats.org/drawingml/2006/main">
            <a:pPr algn="l">
              <a:def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同一验证区继续搜索缺乏证据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94A43-F7C7-441A-B013-5C5B2628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42D3C"/>
                </a:solidFill>
                <a:latin typeface="Hiragino Sans GB"/>
                <a:ea typeface="Hiragino Sans GB"/>
                <a:cs typeface="Hiragino Sans GB"/>
              </a:rPr>
              <a:t>下一步：统一非法 PAM4 与课程比较规则；核实完整独立 Tx 载荷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9B30D-68AC-4C13-A275-71E3F467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2616B"/>
                </a:solidFill>
                <a:latin typeface="Hiragino Sans GB"/>
                <a:ea typeface="Hiragino Sans GB"/>
                <a:cs typeface="Hiragino Sans GB"/>
              </a:rPr>
              <a:t>当前证据不支持双分支稳定优势；也不意味着所有非线性方法无效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96D2F-330D-4D73-BC1C-C233AD6A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26E78"/>
                </a:solidFill>
                <a:latin typeface="Hiragino Sans GB"/>
                <a:ea typeface="Hiragino Sans GB"/>
                <a:cs typeface="Hiragino Sans GB"/>
              </a:rPr>
              <a:t>研究贡献：可复现实现、公平对照，以及明确的适用边界</a:t>
            </a:r>
          </a:p>
        </p:txBody>
      </p:sp>
    </p:spTree>
    <p:extLst>
      <p:ext uri="{BB962C8B-B14F-4D97-AF65-F5344CB8AC3E}">
        <p14:creationId xmlns:p14="http://schemas.microsoft.com/office/powerpoint/2010/main" val="2006692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2026-10-17T16:27:59.0700000Z</dcterms:created>
  <dcterms:modified xsi:type="dcterms:W3CDTF">2026-10-17T16:27:59.0700000Z</dcterms:modified>
</coreProperties>
</file>